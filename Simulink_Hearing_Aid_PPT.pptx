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58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28632" y="4434840"/>
            <a:ext cx="2377440" cy="2377440"/>
          </a:xfrm>
          <a:prstGeom prst="blockArc">
            <a:avLst>
              <a:gd name="adj1" fmla="val -3000000"/>
              <a:gd name="adj2" fmla="val 3000000"/>
              <a:gd name="adj3" fmla="val 2250"/>
            </a:avLst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8796528" y="3602736"/>
            <a:ext cx="4041648" cy="4041648"/>
          </a:xfrm>
          <a:prstGeom prst="blockArc">
            <a:avLst>
              <a:gd name="adj1" fmla="val -3000000"/>
              <a:gd name="adj2" fmla="val 3000000"/>
              <a:gd name="adj3" fmla="val 2250"/>
            </a:avLst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64424" y="2770632"/>
            <a:ext cx="5705856" cy="5705856"/>
          </a:xfrm>
          <a:prstGeom prst="blockArc">
            <a:avLst>
              <a:gd name="adj1" fmla="val -3000000"/>
              <a:gd name="adj2" fmla="val 3000000"/>
              <a:gd name="adj3" fmla="val 2250"/>
            </a:avLst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340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0" y="1783080"/>
            <a:ext cx="3291840" cy="3291840"/>
          </a:xfrm>
          <a:prstGeom prst="hexagon">
            <a:avLst/>
          </a:prstGeom>
          <a:ln w="31750">
            <a:solidFill>
              <a:srgbClr val="2A2F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194560"/>
            <a:ext cx="2468880" cy="2468880"/>
          </a:xfrm>
          <a:prstGeom prst="hexagon">
            <a:avLst/>
          </a:prstGeom>
          <a:ln w="31750">
            <a:solidFill>
              <a:srgbClr val="3A4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606040"/>
            <a:ext cx="1645920" cy="1645920"/>
          </a:xfrm>
          <a:prstGeom prst="hexagon">
            <a:avLst/>
          </a:prstGeom>
          <a:ln w="31750">
            <a:solidFill>
              <a:srgbClr val="E856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926080"/>
            <a:ext cx="1005840" cy="1005840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822960"/>
            <a:ext cx="457200" cy="457200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813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SIMULATION  ·  MATHWORKS INNOVATION CHALLENGE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Simulink Hearing Aid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real-time digital hearing-aid DSP pipeline —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simulated, and validated in Simulink.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892040"/>
            <a:ext cx="2377440" cy="0"/>
          </a:xfrm>
          <a:prstGeom prst="line">
            <a:avLst/>
          </a:prstGeom>
          <a:noFill/>
          <a:ln w="25400">
            <a:solidFill>
              <a:srgbClr val="E856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074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MATLAB R2025b &amp; Simulink  |  MathWorks Excellence in Innovation — Project 241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349240" cy="1042416"/>
          </a:xfrm>
          <a:prstGeom prst="roundRect">
            <a:avLst>
              <a:gd name="adj" fmla="val 7895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554480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52728" y="1517904"/>
            <a:ext cx="4398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Simulation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52728" y="1755648"/>
            <a:ext cx="4398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digital hearing-aid signal-processing system modeled end to end.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349240" cy="1042416"/>
          </a:xfrm>
          <a:prstGeom prst="roundRect">
            <a:avLst>
              <a:gd name="adj" fmla="val 7895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1554480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2008" y="1517904"/>
            <a:ext cx="4398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Challenge Entry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22008" y="1755648"/>
            <a:ext cx="4398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MATLAB R2025b and Simulink for the MathWorks Innovation Challenge.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578608"/>
            <a:ext cx="5349240" cy="1042416"/>
          </a:xfrm>
          <a:prstGeom prst="roundRect">
            <a:avLst>
              <a:gd name="adj" fmla="val 7895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276148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2752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52728" y="2724912"/>
            <a:ext cx="4398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Frequency-Selective DSP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52728" y="2962656"/>
            <a:ext cx="4398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 processing replaces simple uniform amplification.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2578608"/>
            <a:ext cx="5349240" cy="1042416"/>
          </a:xfrm>
          <a:prstGeom prst="roundRect">
            <a:avLst>
              <a:gd name="adj" fmla="val 7895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276148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2752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22008" y="2724912"/>
            <a:ext cx="4398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22008" y="2962656"/>
            <a:ext cx="4398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Frame-based audio processing with live speaker playback.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785616"/>
            <a:ext cx="5349240" cy="1042416"/>
          </a:xfrm>
          <a:prstGeom prst="roundRect">
            <a:avLst>
              <a:gd name="adj" fmla="val 7895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3968496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52728" y="3931920"/>
            <a:ext cx="4398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52728" y="4169664"/>
            <a:ext cx="4398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processing stage is independently testable and traceable.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785616"/>
            <a:ext cx="5349240" cy="1042416"/>
          </a:xfrm>
          <a:prstGeom prst="roundRect">
            <a:avLst>
              <a:gd name="adj" fmla="val 7895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3368" y="3968496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3" name="Text 31"/>
          <p:cNvSpPr/>
          <p:nvPr/>
        </p:nvSpPr>
        <p:spPr>
          <a:xfrm>
            <a:off x="6373368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22008" y="3931920"/>
            <a:ext cx="4398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Real Speech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22008" y="4169664"/>
            <a:ext cx="4398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recordings from the TIMIT speech corpus.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992624"/>
            <a:ext cx="11018520" cy="1042416"/>
          </a:xfrm>
          <a:prstGeom prst="roundRect">
            <a:avLst>
              <a:gd name="adj" fmla="val 7895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" y="5175504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252728" y="5138928"/>
            <a:ext cx="10067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Scope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52728" y="5376672"/>
            <a:ext cx="10067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engineering &amp; educational simulation — not a clinical device.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755648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3278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" y="1682496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DSP architecture of modern digital hearing aids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" y="2651760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6289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8136" y="2578608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complete hearing-aid pipeline in Simulink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" y="3547872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5250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8136" y="3474720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frequency-dependent amplification via multi-band filtering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" y="4443984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442112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" y="4370832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DSP techniques to improve speech audibility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" y="5340096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531723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36" y="5266944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Dynamic Range Compression (DRC)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73368" y="1755648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24" name="Text 22"/>
          <p:cNvSpPr/>
          <p:nvPr/>
        </p:nvSpPr>
        <p:spPr>
          <a:xfrm>
            <a:off x="6373368" y="173278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65976" y="1682496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unwanted background noise components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73368" y="2651760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26289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65976" y="2578608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adaptive acoustic feedback cancellation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73368" y="3547872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30" name="Text 28"/>
          <p:cNvSpPr/>
          <p:nvPr/>
        </p:nvSpPr>
        <p:spPr>
          <a:xfrm>
            <a:off x="6373368" y="35250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65976" y="3474720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individual processing stages via MATLAB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73368" y="4443984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33" name="Text 31"/>
          <p:cNvSpPr/>
          <p:nvPr/>
        </p:nvSpPr>
        <p:spPr>
          <a:xfrm>
            <a:off x="6373368" y="442112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65976" y="4370832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using real TIMIT speech recordings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73368" y="5340096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36" name="Text 34"/>
          <p:cNvSpPr/>
          <p:nvPr/>
        </p:nvSpPr>
        <p:spPr>
          <a:xfrm>
            <a:off x="6373368" y="531723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65976" y="5266944"/>
            <a:ext cx="45994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model-based design for a practical DSP application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PATH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372616" cy="777240"/>
          </a:xfrm>
          <a:prstGeom prst="chevron">
            <a:avLst/>
          </a:prstGeom>
          <a:solidFill>
            <a:srgbClr val="1F23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126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29232" y="1508760"/>
            <a:ext cx="1372616" cy="777240"/>
          </a:xfrm>
          <a:prstGeom prst="chevron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8960" y="1508760"/>
            <a:ext cx="115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55544" y="1508760"/>
            <a:ext cx="1372616" cy="777240"/>
          </a:xfrm>
          <a:prstGeom prst="chevron">
            <a:avLst/>
          </a:prstGeom>
          <a:solidFill>
            <a:srgbClr val="E856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5272" y="1508760"/>
            <a:ext cx="115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Filter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81856" y="1508760"/>
            <a:ext cx="1372616" cy="777240"/>
          </a:xfrm>
          <a:prstGeom prst="chevron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1584" y="1508760"/>
            <a:ext cx="115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08168" y="1508760"/>
            <a:ext cx="1372616" cy="777240"/>
          </a:xfrm>
          <a:prstGeom prst="chevron">
            <a:avLst/>
          </a:prstGeom>
          <a:solidFill>
            <a:srgbClr val="E856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7896" y="1508760"/>
            <a:ext cx="115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34480" y="1508760"/>
            <a:ext cx="1372616" cy="777240"/>
          </a:xfrm>
          <a:prstGeom prst="chevron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4208" y="1508760"/>
            <a:ext cx="115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0792" y="1508760"/>
            <a:ext cx="1372616" cy="777240"/>
          </a:xfrm>
          <a:prstGeom prst="chevron">
            <a:avLst/>
          </a:prstGeom>
          <a:solidFill>
            <a:srgbClr val="E856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0520" y="1508760"/>
            <a:ext cx="115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87104" y="1508760"/>
            <a:ext cx="1372616" cy="777240"/>
          </a:xfrm>
          <a:prstGeom prst="chevron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6832" y="1508760"/>
            <a:ext cx="115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313416" y="1508760"/>
            <a:ext cx="1372616" cy="777240"/>
          </a:xfrm>
          <a:prstGeom prst="chevron">
            <a:avLst/>
          </a:prstGeom>
          <a:solidFill>
            <a:srgbClr val="1F23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3144" y="1508760"/>
            <a:ext cx="115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242316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subsystem is independently verifiable — enabling clear signal tracing and parameter transparency.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 FREQUENCY PROCESSING DETAIL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38328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360273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2588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dB gain  (×1.0)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43434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parallel band, summed downstream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69080" y="338328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563F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92040" y="360273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FIR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dB gain  (×2.51)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297680" y="43434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parallel band, summed downstream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35240" y="338328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2340"/>
          </a:solidFill>
          <a:ln/>
        </p:spPr>
      </p:sp>
      <p:sp>
        <p:nvSpPr>
          <p:cNvPr id="40" name="Text 38"/>
          <p:cNvSpPr/>
          <p:nvPr/>
        </p:nvSpPr>
        <p:spPr>
          <a:xfrm>
            <a:off x="78638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58200" y="360273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5820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to +20 dB  (×5.62–10.0)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863840" y="43434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parallel band, summed downstream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4983480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bands are recombined by summation to form the Compensated Audio signal, which passes to the DRC and downstream stages — representing a generic sensorineural hearing-loss profile where high frequencies need more boost.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Top-Level Simulink Model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060704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hearingAid_System_v1 — the actual block diagram implementing the pipeline above, captured directly from the Simulink canvas.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0068" y="1371600"/>
            <a:ext cx="6528816" cy="3358647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 w="12700">
            <a:solidFill>
              <a:srgbClr val="F0DAD3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pic>
        <p:nvPicPr>
          <p:cNvPr id="8" name="Image 0" descr="/home/claude/work/simulink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796" y="1481328"/>
            <a:ext cx="6309360" cy="313919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" y="4986279"/>
            <a:ext cx="2651760" cy="1414521"/>
          </a:xfrm>
          <a:prstGeom prst="roundRect">
            <a:avLst>
              <a:gd name="adj" fmla="val 5818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6092" y="5132583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8563F"/>
          </a:solidFill>
          <a:ln/>
        </p:spPr>
      </p:sp>
      <p:sp>
        <p:nvSpPr>
          <p:cNvPr id="11" name="Text 8"/>
          <p:cNvSpPr/>
          <p:nvPr/>
        </p:nvSpPr>
        <p:spPr>
          <a:xfrm>
            <a:off x="717804" y="5470911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Chain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7804" y="5763519"/>
            <a:ext cx="2359152" cy="545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Loss Compensation → Dynamic Range Control → Output Protection: the core real-time DSP path.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69564" y="4986279"/>
            <a:ext cx="2651760" cy="1414521"/>
          </a:xfrm>
          <a:prstGeom prst="roundRect">
            <a:avLst>
              <a:gd name="adj" fmla="val 5818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34156" y="5132583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8563F"/>
          </a:solidFill>
          <a:ln/>
        </p:spPr>
      </p:sp>
      <p:sp>
        <p:nvSpPr>
          <p:cNvPr id="15" name="Text 12"/>
          <p:cNvSpPr/>
          <p:nvPr/>
        </p:nvSpPr>
        <p:spPr>
          <a:xfrm>
            <a:off x="3515868" y="5470911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Taps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515868" y="5763519"/>
            <a:ext cx="2359152" cy="545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Analysis &amp; Output Analysis scope the raw and protected audio for inspection.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67628" y="4986279"/>
            <a:ext cx="2651760" cy="1414521"/>
          </a:xfrm>
          <a:prstGeom prst="roundRect">
            <a:avLst>
              <a:gd name="adj" fmla="val 5818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32220" y="5132583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A623"/>
          </a:solidFill>
          <a:ln/>
        </p:spPr>
      </p:sp>
      <p:sp>
        <p:nvSpPr>
          <p:cNvPr id="19" name="Text 16"/>
          <p:cNvSpPr/>
          <p:nvPr/>
        </p:nvSpPr>
        <p:spPr>
          <a:xfrm>
            <a:off x="6313932" y="5470911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 Monitoring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13932" y="5763519"/>
            <a:ext cx="2359152" cy="545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SPL &amp; Output SPL feed SPL Comparison to quantify the gain achieved.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965692" y="4986279"/>
            <a:ext cx="2651760" cy="1414521"/>
          </a:xfrm>
          <a:prstGeom prst="roundRect">
            <a:avLst>
              <a:gd name="adj" fmla="val 5818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30284" y="5132583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2340"/>
          </a:solidFill>
          <a:ln/>
        </p:spPr>
      </p:sp>
      <p:sp>
        <p:nvSpPr>
          <p:cNvPr id="23" name="Text 20"/>
          <p:cNvSpPr/>
          <p:nvPr/>
        </p:nvSpPr>
        <p:spPr>
          <a:xfrm>
            <a:off x="9111996" y="5470911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Stage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111996" y="5763519"/>
            <a:ext cx="2359152" cy="545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Sample-Rate Converter conditions Protected Audio for the Audio Output block.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Multi-Band FIR Filtering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184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0391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Type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54680" y="20391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Impulse Response (FIR)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40487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Order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54680" y="240487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 (377 taps)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77063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Frequency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54680" y="277063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313639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Delay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54680" y="313639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samples ≈ 11.75 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35021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54680" y="3502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τg = N / 2  (linear-phase FIR)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913632"/>
            <a:ext cx="4892040" cy="0"/>
          </a:xfrm>
          <a:prstGeom prst="line">
            <a:avLst/>
          </a:prstGeom>
          <a:noFill/>
          <a:ln w="12700">
            <a:solidFill>
              <a:srgbClr val="F0DA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965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462272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stability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Linear-phase response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frequency roll-off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multi-band parallel paths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16184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CONFIGURATION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19842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bands are processed simultaneously: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2377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2377440"/>
            <a:ext cx="1362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92440" y="23774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dB gain (×1.0)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28803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8563F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2880360"/>
            <a:ext cx="1362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BAND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92440" y="2880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dB gain (×2.51)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37960" y="33832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2340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3383280"/>
            <a:ext cx="1362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BAND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92440" y="3383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to +20 dB (×5.62–10.0)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37960" y="4023360"/>
            <a:ext cx="4892040" cy="0"/>
          </a:xfrm>
          <a:prstGeom prst="line">
            <a:avLst/>
          </a:prstGeom>
          <a:noFill/>
          <a:ln w="12700">
            <a:solidFill>
              <a:srgbClr val="F0DA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2519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 generic sensorineural hearing-loss profile where high frequencies need more boost. All three bands are recombined by summation before passing to the DRC and downstream stages.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 &amp; CLARITY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Dynamic Range Compression &amp; Noise Reduction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184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MODULE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Range Compression (DRC)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amplitude-to-gain relationship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weak speech without over-amplifying loud signals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via Moving RMS analysis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4892040" cy="0"/>
          </a:xfrm>
          <a:prstGeom prst="line">
            <a:avLst/>
          </a:prstGeom>
          <a:noFill/>
          <a:ln w="12700">
            <a:solidFill>
              <a:srgbClr val="F0DA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490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RMS CONFIGURATION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0873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40873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41655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length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441655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samples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74573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4745736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samples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184648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difference in RMS before vs. after DRC confirms correct compression operation.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16184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FEEDBACK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19476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2860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unwanted background components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improve SNR, not complete elimination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excessive speech distortion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37960" y="356616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by: time-domain waveform comparison, frequency-domain spectrum analysis, RMS signal-level measurements, and subjective listening tests.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4297680"/>
            <a:ext cx="4892040" cy="0"/>
          </a:xfrm>
          <a:prstGeom prst="line">
            <a:avLst/>
          </a:prstGeom>
          <a:noFill/>
          <a:ln w="12700">
            <a:solidFill>
              <a:srgbClr val="F0DA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4805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Feedback Cancellation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481888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and suppresses the acoustic feedback path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LMS / NLMS algorithms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Tools, Software &amp; Dataset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1636776"/>
            <a:ext cx="365760" cy="365760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6152" y="163677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R2025b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R2025b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Toolbox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System Toolbox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Toolbox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3096" y="1636776"/>
            <a:ext cx="365760" cy="365760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76872" y="163677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Entry Point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19456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computer audio I/O, verified with live mic &amp; speaker playback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run_hearingaid.m — single-command launch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Auto-loads FIR coefficients from .mat file; opens &amp; runs the model automatically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" y="4242816"/>
            <a:ext cx="365760" cy="365760"/>
          </a:xfrm>
          <a:prstGeom prst="hexagon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16152" y="424281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TIMIT Speech Dataset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80060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speech corpus used for evaluation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under Data/datasets/TIMIT/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TRAIN/DR1/FCJF0/SA1.WAV used as the primary input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402336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3096" y="4242816"/>
            <a:ext cx="365760" cy="365760"/>
          </a:xfrm>
          <a:prstGeom prst="hexagon">
            <a:avLst/>
          </a:prstGeom>
          <a:solidFill>
            <a:srgbClr val="1F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83096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76872" y="424281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&amp; Simulink Roles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480060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MATLAB: filter design, spectrum/waveform analysis, parameter sweeps, result visualisation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Simulink: block-diagram modelling, frame-based real-time DSP, audio streaming &amp; end-to-end integration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FIR Filter Frequency Response</a:t>
            </a:r>
            <a:endParaRPr lang="en-US" sz="2800" dirty="0"/>
          </a:p>
        </p:txBody>
      </p:sp>
      <p:pic>
        <p:nvPicPr>
          <p:cNvPr id="7" name="Image 0" descr="/home/claude/work/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141" y="1293876"/>
            <a:ext cx="4953916" cy="3429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8" name="Text 5"/>
          <p:cNvSpPr/>
          <p:nvPr/>
        </p:nvSpPr>
        <p:spPr>
          <a:xfrm>
            <a:off x="502920" y="4983480"/>
            <a:ext cx="111831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overlaid FIR band responses (Low / Mid / High)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376 (377 taps) — linear-phase, stable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sampling rate  |  Group delay: 188 samples (≈ 11.75 ms)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 vs Output Waveforms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06932" y="1325880"/>
            <a:ext cx="4446371" cy="3611880"/>
          </a:xfrm>
          <a:prstGeom prst="roundRect">
            <a:avLst>
              <a:gd name="adj" fmla="val 2278"/>
            </a:avLst>
          </a:prstGeom>
          <a:solidFill>
            <a:srgbClr val="1F2340"/>
          </a:solidFill>
          <a:ln w="12700">
            <a:solidFill>
              <a:srgbClr val="1F2340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pic>
        <p:nvPicPr>
          <p:cNvPr id="7" name="Image 0" descr="/home/claude/work/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72" y="1417320"/>
            <a:ext cx="4263491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8372" y="4901184"/>
            <a:ext cx="426349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raw speech (SA1.WAV)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35648" y="1325880"/>
            <a:ext cx="4446371" cy="3611880"/>
          </a:xfrm>
          <a:prstGeom prst="roundRect">
            <a:avLst>
              <a:gd name="adj" fmla="val 2278"/>
            </a:avLst>
          </a:prstGeom>
          <a:solidFill>
            <a:srgbClr val="1F2340"/>
          </a:solidFill>
          <a:ln w="12700">
            <a:solidFill>
              <a:srgbClr val="1F2340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pic>
        <p:nvPicPr>
          <p:cNvPr id="10" name="Image 1" descr="/home/claude/work/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088" y="1417320"/>
            <a:ext cx="4263491" cy="3429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27088" y="4901184"/>
            <a:ext cx="426349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after full DSP pipeline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5257800"/>
            <a:ext cx="111831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amplitude difference confirms frequency-dependent gain applied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envelope shows DRC action — louder regions compressed, quieter regions boosted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clipping artefacts — output protection stage operating correctly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shape preserved — speech intelligibility maintained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 vs Output Frequency Spectrum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54037" y="1325880"/>
            <a:ext cx="5352162" cy="3611880"/>
          </a:xfrm>
          <a:prstGeom prst="roundRect">
            <a:avLst>
              <a:gd name="adj" fmla="val 2278"/>
            </a:avLst>
          </a:prstGeom>
          <a:solidFill>
            <a:srgbClr val="1F2340"/>
          </a:solidFill>
          <a:ln w="12700">
            <a:solidFill>
              <a:srgbClr val="1F2340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pic>
        <p:nvPicPr>
          <p:cNvPr id="7" name="Image 0" descr="/home/claude/work/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77" y="1417320"/>
            <a:ext cx="5169282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5477" y="4901184"/>
            <a:ext cx="516928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spectrum — before processing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82753" y="1325880"/>
            <a:ext cx="5352162" cy="3611880"/>
          </a:xfrm>
          <a:prstGeom prst="roundRect">
            <a:avLst>
              <a:gd name="adj" fmla="val 2278"/>
            </a:avLst>
          </a:prstGeom>
          <a:solidFill>
            <a:srgbClr val="1F2340"/>
          </a:solidFill>
          <a:ln w="12700">
            <a:solidFill>
              <a:srgbClr val="1F2340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pic>
        <p:nvPicPr>
          <p:cNvPr id="10" name="Image 1" descr="/home/claude/work/img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193" y="1417320"/>
            <a:ext cx="5169282" cy="3429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4193" y="4901184"/>
            <a:ext cx="516928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spectrum — after hearing-aid DSP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5257800"/>
            <a:ext cx="111831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components (+15 to +20 dB) clearly elevated in the output spectrum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Mid-frequency region boosted by +8 dB as configured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content unchanged (0 dB gain) — consistent with the hearing-loss profile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floor relatively contained — noise reduction stage effective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SPL Comparison — Input vs Output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71290" y="1325880"/>
            <a:ext cx="4446371" cy="3611880"/>
          </a:xfrm>
          <a:prstGeom prst="roundRect">
            <a:avLst>
              <a:gd name="adj" fmla="val 2278"/>
            </a:avLst>
          </a:prstGeom>
          <a:solidFill>
            <a:srgbClr val="1F2340"/>
          </a:solidFill>
          <a:ln w="12700">
            <a:solidFill>
              <a:srgbClr val="1F2340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pic>
        <p:nvPicPr>
          <p:cNvPr id="7" name="Image 0" descr="/home/claude/work/im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730" y="1417320"/>
            <a:ext cx="4263491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983480"/>
            <a:ext cx="111831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(Sound Pressure Level) measured in dB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SPL consistently higher across speech segments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frequency-dependent gain applied as designed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frames produce log(0) warnings — expected and harmless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Corroborates successful DRC and gain compensation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≣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System Parameters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4727448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  <a:gridCol w="4416552"/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Sampling 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kHz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speech-band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 Filter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 taps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 Group Delay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samples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11.75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Band 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dB  (×1.0)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boost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Band 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 dB  (×2.51)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Band 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 to +20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×5.62 – ×10.0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RMS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samples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 analysis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 Overlap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Non-overlapping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TIMIT SA1.WAV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TRAIN/DR1/FCJF0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Exit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(SUCCESS)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5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errors detected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Experimental Results Summary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773936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5107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" y="1700784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end-to-end Simulink simulation — exit code 0, zero errors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" y="2578608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55574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8136" y="2505456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playback verified through laptop speaker interface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" y="3383280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3604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8136" y="3310128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 FIR filter paths operating correctly (Low / Mid / High independent)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" y="4187952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41650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" y="4114800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Frequency-dependent gain applied per the configured hearing-loss profile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" y="4992624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496976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36" y="4919472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Range Compression operating — RMS-level difference observable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" y="5797296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577443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8136" y="5724144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 stage reducing unwanted background components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73368" y="1773936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175107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65976" y="1700784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protection preventing clipping at the final audio stage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73368" y="2578608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30" name="Text 28"/>
          <p:cNvSpPr/>
          <p:nvPr/>
        </p:nvSpPr>
        <p:spPr>
          <a:xfrm>
            <a:off x="6373368" y="255574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65976" y="2505456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consistently higher at output, confirming hearing-aid amplification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73368" y="3383280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33" name="Text 31"/>
          <p:cNvSpPr/>
          <p:nvPr/>
        </p:nvSpPr>
        <p:spPr>
          <a:xfrm>
            <a:off x="6373368" y="33604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65976" y="3310128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waveform and spectrum differences clearly visible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73368" y="4187952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36" name="Text 34"/>
          <p:cNvSpPr/>
          <p:nvPr/>
        </p:nvSpPr>
        <p:spPr>
          <a:xfrm>
            <a:off x="6373368" y="41650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65976" y="4114800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audio reproduction with no oscillation or instability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73368" y="4992624"/>
            <a:ext cx="182880" cy="182880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39" name="Text 37"/>
          <p:cNvSpPr/>
          <p:nvPr/>
        </p:nvSpPr>
        <p:spPr>
          <a:xfrm>
            <a:off x="6373368" y="496976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65976" y="4919472"/>
            <a:ext cx="45994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TIMIT SA1.WAV speech dataset processed successfully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74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65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" y="585216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Limitations &amp; Future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2EF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141732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BF1EE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184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4892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hearing-loss profile (not audiogram-based)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clinically validated hearing-aid device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values are simulation parameters only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path doesn't fully replicate the physical ear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speech-intelligibility metrics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depends on host hardware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audio codec or embedded hardware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37960" y="16184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 DIRECTIONS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984248"/>
            <a:ext cx="4892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Audiogram-based personalised gain fitting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detailed multi-band DRC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adaptive feedback cancellation (LMS/NLMS)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speech enhancement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microphone &amp; beamforming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environment classification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implementation (ARM / DSP chip)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latency &amp; computational-load benchmarking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24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prototype development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28632" y="4434840"/>
            <a:ext cx="2377440" cy="2377440"/>
          </a:xfrm>
          <a:prstGeom prst="blockArc">
            <a:avLst>
              <a:gd name="adj1" fmla="val -3000000"/>
              <a:gd name="adj2" fmla="val 3000000"/>
              <a:gd name="adj3" fmla="val 2250"/>
            </a:avLst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8796528" y="3602736"/>
            <a:ext cx="4041648" cy="4041648"/>
          </a:xfrm>
          <a:prstGeom prst="blockArc">
            <a:avLst>
              <a:gd name="adj1" fmla="val -3000000"/>
              <a:gd name="adj2" fmla="val 3000000"/>
              <a:gd name="adj3" fmla="val 2250"/>
            </a:avLst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64424" y="2770632"/>
            <a:ext cx="5705856" cy="5705856"/>
          </a:xfrm>
          <a:prstGeom prst="blockArc">
            <a:avLst>
              <a:gd name="adj1" fmla="val -3000000"/>
              <a:gd name="adj2" fmla="val 3000000"/>
              <a:gd name="adj3" fmla="val 2250"/>
            </a:avLst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"/>
            <a:ext cx="457200" cy="457200"/>
          </a:xfrm>
          <a:prstGeom prst="hexagon">
            <a:avLst/>
          </a:prstGeom>
          <a:solidFill>
            <a:srgbClr val="E8563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30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8686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Successful DSP Hearing-Aid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Simulation in MATLAB &amp; Simulink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3044952"/>
            <a:ext cx="146304" cy="146304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260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modular, real-time hearing-aid DSP pipeline was successfully implemented and validated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666744"/>
            <a:ext cx="146304" cy="146304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4787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 FIR filtering, DRC, noise reduction, feedback cancellation and output protection all verified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288536"/>
            <a:ext cx="146304" cy="146304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6966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TIMIT speech data processed end-to-end with audible playback confirmed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910328"/>
            <a:ext cx="146304" cy="146304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91456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experimental results (waveforms, spectra, SPL) confirm system behaviour matches design targets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532120"/>
            <a:ext cx="146304" cy="146304"/>
          </a:xfrm>
          <a:prstGeom prst="ellipse">
            <a:avLst/>
          </a:prstGeom>
          <a:solidFill>
            <a:srgbClr val="E856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1324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 Simulink architecture provides a reproducible and extensible platform for future research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HEARING AID  ·  PROJECT 241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1496</Words>
  <Application>Microsoft Office PowerPoint</Application>
  <PresentationFormat>Widescreen</PresentationFormat>
  <Paragraphs>346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shami</cp:lastModifiedBy>
  <cp:revision>2</cp:revision>
  <dcterms:created xsi:type="dcterms:W3CDTF">2026-09-19T14:04:21Z</dcterms:created>
  <dcterms:modified xsi:type="dcterms:W3CDTF">2026-09-19T14:08:38Z</dcterms:modified>
</cp:coreProperties>
</file>